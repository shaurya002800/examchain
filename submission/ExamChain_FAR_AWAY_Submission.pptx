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15ee5d3f6dd44df" /><Relationship Type="http://schemas.openxmlformats.org/officeDocument/2006/relationships/extended-properties" Target="/docProps/app.xml" Id="R9f2147dba1474505" /><Relationship Type="http://schemas.openxmlformats.org/officeDocument/2006/relationships/officeDocument" Target="/ppt/presentation.xml" Id="Rf4a40eb2b3924f9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af6cd70df146c8"/>
  </p:sldMasterIdLst>
  <p:notesMasterIdLst>
    <p:notesMasterId xmlns:r="http://schemas.openxmlformats.org/officeDocument/2006/relationships" r:id="Rfd63bd03dd174bd7"/>
  </p:notesMasterIdLst>
  <p:sldIdLst>
    <p:sldId xmlns:r="http://schemas.openxmlformats.org/officeDocument/2006/relationships" id="256" r:id="R8010d7e1d75943b0"/>
    <p:sldId xmlns:r="http://schemas.openxmlformats.org/officeDocument/2006/relationships" id="257" r:id="R9ccc752e14304856"/>
    <p:sldId xmlns:r="http://schemas.openxmlformats.org/officeDocument/2006/relationships" id="258" r:id="R98496d9173154bc1"/>
    <p:sldId xmlns:r="http://schemas.openxmlformats.org/officeDocument/2006/relationships" id="259" r:id="Rcf64288b27464ba6"/>
    <p:sldId xmlns:r="http://schemas.openxmlformats.org/officeDocument/2006/relationships" id="260" r:id="Re6b96a73537e464a"/>
    <p:sldId xmlns:r="http://schemas.openxmlformats.org/officeDocument/2006/relationships" id="261" r:id="R2effae09722a441e"/>
    <p:sldId xmlns:r="http://schemas.openxmlformats.org/officeDocument/2006/relationships" id="262" r:id="R262cd8de3a774e83"/>
    <p:sldId xmlns:r="http://schemas.openxmlformats.org/officeDocument/2006/relationships" id="263" r:id="R9026df8a2e394b24"/>
    <p:sldId xmlns:r="http://schemas.openxmlformats.org/officeDocument/2006/relationships" id="264" r:id="Rc41536380a3a429c"/>
    <p:sldId xmlns:r="http://schemas.openxmlformats.org/officeDocument/2006/relationships" id="265" r:id="R00374314933f4168"/>
    <p:sldId xmlns:r="http://schemas.openxmlformats.org/officeDocument/2006/relationships" id="266" r:id="Rd0cd76e1de0847d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fd73f94f3ba4c94" /><Relationship Type="http://schemas.openxmlformats.org/officeDocument/2006/relationships/slideMaster" Target="/ppt/slideMasters/slideMaster1.xml" Id="R52af6cd70df146c8" /><Relationship Type="http://schemas.openxmlformats.org/officeDocument/2006/relationships/notesMaster" Target="/ppt/notesMasters/notesMaster1.xml" Id="Rfd63bd03dd174bd7" /><Relationship Type="http://schemas.openxmlformats.org/officeDocument/2006/relationships/presProps" Target="/ppt/presProps.xml" Id="Ra1c8a6362de14794" /><Relationship Type="http://schemas.openxmlformats.org/officeDocument/2006/relationships/viewProps" Target="/ppt/viewProps.xml" Id="R71b9e1bcb128441e" /><Relationship Type="http://schemas.openxmlformats.org/officeDocument/2006/relationships/tableStyles" Target="/ppt/tableStyles.xml" Id="R45add8b4556c4104" /><Relationship Type="http://schemas.openxmlformats.org/officeDocument/2006/relationships/slide" Target="/ppt/slides/slide1.xml" Id="R8010d7e1d75943b0" /><Relationship Type="http://schemas.openxmlformats.org/officeDocument/2006/relationships/slide" Target="/ppt/slides/slide2.xml" Id="R9ccc752e14304856" /><Relationship Type="http://schemas.openxmlformats.org/officeDocument/2006/relationships/slide" Target="/ppt/slides/slide3.xml" Id="R98496d9173154bc1" /><Relationship Type="http://schemas.openxmlformats.org/officeDocument/2006/relationships/slide" Target="/ppt/slides/slide4.xml" Id="Rcf64288b27464ba6" /><Relationship Type="http://schemas.openxmlformats.org/officeDocument/2006/relationships/slide" Target="/ppt/slides/slide5.xml" Id="Re6b96a73537e464a" /><Relationship Type="http://schemas.openxmlformats.org/officeDocument/2006/relationships/slide" Target="/ppt/slides/slide6.xml" Id="R2effae09722a441e" /><Relationship Type="http://schemas.openxmlformats.org/officeDocument/2006/relationships/slide" Target="/ppt/slides/slide7.xml" Id="R262cd8de3a774e83" /><Relationship Type="http://schemas.openxmlformats.org/officeDocument/2006/relationships/slide" Target="/ppt/slides/slide8.xml" Id="R9026df8a2e394b24" /><Relationship Type="http://schemas.openxmlformats.org/officeDocument/2006/relationships/slide" Target="/ppt/slides/slide9.xml" Id="Rc41536380a3a429c" /><Relationship Type="http://schemas.openxmlformats.org/officeDocument/2006/relationships/slide" Target="/ppt/slides/slide10.xml" Id="R00374314933f4168" /><Relationship Type="http://schemas.openxmlformats.org/officeDocument/2006/relationships/slide" Target="/ppt/slides/slide11.xml" Id="Rd0cd76e1de0847d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449931408a4f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63a004e39d4bda" /><Relationship Type="http://schemas.openxmlformats.org/officeDocument/2006/relationships/notesMaster" Target="/ppt/notesMasters/notesMaster1.xml" Id="Rca129af4c92c4a5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5923f6c845c435a" /><Relationship Type="http://schemas.openxmlformats.org/officeDocument/2006/relationships/notesMaster" Target="/ppt/notesMasters/notesMaster1.xml" Id="R0aa262dec84f421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bfe1f877127409a" /><Relationship Type="http://schemas.openxmlformats.org/officeDocument/2006/relationships/notesMaster" Target="/ppt/notesMasters/notesMaster1.xml" Id="R05bb68c5269742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8770ae103147ff" /><Relationship Type="http://schemas.openxmlformats.org/officeDocument/2006/relationships/notesMaster" Target="/ppt/notesMasters/notesMaster1.xml" Id="R2ae427aeb8ca4bf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fc5b7075ba47e6" /><Relationship Type="http://schemas.openxmlformats.org/officeDocument/2006/relationships/notesMaster" Target="/ppt/notesMasters/notesMaster1.xml" Id="R4fd3cda90f3d4d0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34f2d0355af4b54" /><Relationship Type="http://schemas.openxmlformats.org/officeDocument/2006/relationships/notesMaster" Target="/ppt/notesMasters/notesMaster1.xml" Id="Rea82ab5797c947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48dea94384244c1" /><Relationship Type="http://schemas.openxmlformats.org/officeDocument/2006/relationships/notesMaster" Target="/ppt/notesMasters/notesMaster1.xml" Id="R85499dc2e4d945c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f620079e4c942ee" /><Relationship Type="http://schemas.openxmlformats.org/officeDocument/2006/relationships/notesMaster" Target="/ppt/notesMasters/notesMaster1.xml" Id="Re816dd52dcc9466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636c03454454ad8" /><Relationship Type="http://schemas.openxmlformats.org/officeDocument/2006/relationships/notesMaster" Target="/ppt/notesMasters/notesMaster1.xml" Id="R4c24fa5981bd4ec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57a8cff75704925" /><Relationship Type="http://schemas.openxmlformats.org/officeDocument/2006/relationships/notesMaster" Target="/ppt/notesMasters/notesMaster1.xml" Id="Rfa6a65192faa453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30ffc91b0584be1" /><Relationship Type="http://schemas.openxmlformats.org/officeDocument/2006/relationships/notesMaster" Target="/ppt/notesMasters/notesMaster1.xml" Id="R1b8b51db87d348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29e1ccfe394d4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5d5dc3cbc44770" /><Relationship Type="http://schemas.openxmlformats.org/officeDocument/2006/relationships/slideLayout" Target="/ppt/slideLayouts/slideLayout1.xml" Id="Rf87c8b47fc9849c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7c8b47fc9849c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7915cedbbc4339" /><Relationship Type="http://schemas.openxmlformats.org/officeDocument/2006/relationships/notesSlide" Target="/ppt/notesSlides/notesSlide1.xml" Id="R3edfbc53a345425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31fc3a62e405f" /><Relationship Type="http://schemas.openxmlformats.org/officeDocument/2006/relationships/notesSlide" Target="/ppt/notesSlides/notesSlide2.xml" Id="Re8e9d78f997c4fb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46a871db194460" /><Relationship Type="http://schemas.openxmlformats.org/officeDocument/2006/relationships/notesSlide" Target="/ppt/notesSlides/notesSlide3.xml" Id="R735856d007554c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2489d7a9364536" /><Relationship Type="http://schemas.openxmlformats.org/officeDocument/2006/relationships/notesSlide" Target="/ppt/notesSlides/notesSlide4.xml" Id="R15f539a021c24c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fa00e13e554165" /><Relationship Type="http://schemas.openxmlformats.org/officeDocument/2006/relationships/notesSlide" Target="/ppt/notesSlides/notesSlide5.xml" Id="R6351f2fe1548484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c8601680f04178" /><Relationship Type="http://schemas.openxmlformats.org/officeDocument/2006/relationships/notesSlide" Target="/ppt/notesSlides/notesSlide6.xml" Id="Rff1b3151c2dc492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a5c9793c2142b3" /><Relationship Type="http://schemas.openxmlformats.org/officeDocument/2006/relationships/notesSlide" Target="/ppt/notesSlides/notesSlide7.xml" Id="R593816e99f58441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8ba188904c4301" /><Relationship Type="http://schemas.openxmlformats.org/officeDocument/2006/relationships/notesSlide" Target="/ppt/notesSlides/notesSlide8.xml" Id="Rceb5ab8988ae47c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5efb2038e844e0" /><Relationship Type="http://schemas.openxmlformats.org/officeDocument/2006/relationships/notesSlide" Target="/ppt/notesSlides/notesSlide9.xml" Id="R9ec22564d7dd470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303237a4c44c44" /><Relationship Type="http://schemas.openxmlformats.org/officeDocument/2006/relationships/notesSlide" Target="/ppt/notesSlides/notesSlide10.xml" Id="R3da2a18519c94de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afc4120369480a" /><Relationship Type="http://schemas.openxmlformats.org/officeDocument/2006/relationships/notesSlide" Target="/ppt/notesSlides/notesSlide11.xml" Id="R7193d58fba7c431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C7B0FB-687F-40FB-9302-B4208797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771A40-2B1F-47F0-8389-DFC49B13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B0352A-BCB8-4B7A-BB75-785EF0926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ZERO-TRUST EXAM INFRASTRUCTURE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5C346B-9351-4B11-821D-B6B31C79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191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ExamChain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29922E-41DF-44F6-9FE5-0558D1DBC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17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0708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0708A"/>
                </a:solidFill>
                <a:latin typeface="Aptos"/>
                <a:ea typeface="Aptos"/>
                <a:cs typeface="Aptos"/>
              </a:rPr>
              <a:t>ExamChain | FAR AWAY Round 1 MVP Submission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DA9296-1721-4017-9D19-13989DE12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Secure exam delivery, autonomous integrity agents, and verifiable result credentials in one deployable MVP.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C4990E-F11B-4A52-A02C-F61379EA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666750"/>
            <a:ext cx="43624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828"/>
          </a:solidFill>
          <a:ln xmlns:a="http://schemas.openxmlformats.org/drawingml/2006/main" w="9525">
            <a:solidFill>
              <a:srgbClr val="21D4F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2E4BBD-9BE8-4B49-84CA-D533CC97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0096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Trust Chain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DCB2FA-6251-4882-9F71-41F5F7A80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600200"/>
            <a:ext cx="10096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036"/>
          </a:solidFill>
          <a:ln xmlns:a="http://schemas.openxmlformats.org/drawingml/2006/main" w="9525">
            <a:solidFill>
              <a:srgbClr val="5B8C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871646-BA29-4CFC-B9FB-D7BF92A2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828800"/>
            <a:ext cx="819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Encrypted</a:t>
            </a:r>
          </a:p>
          <a:p xmlns:a="http://schemas.openxmlformats.org/drawingml/2006/main">
            <a:pPr algn="ctr">
              <a:defRPr sz="9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Question Vault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8E7007-2A50-4B56-BAD2-A9FF32A34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57500"/>
            <a:ext cx="10096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036"/>
          </a:solidFill>
          <a:ln xmlns:a="http://schemas.openxmlformats.org/drawingml/2006/main" w="9525">
            <a:solidFill>
              <a:srgbClr val="21D4F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2FD14D-C5A8-4A3A-958D-4A668A7D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086100"/>
            <a:ext cx="819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Adaptive</a:t>
            </a:r>
          </a:p>
          <a:p xmlns:a="http://schemas.openxmlformats.org/drawingml/2006/main">
            <a:pPr algn="ctr">
              <a:defRPr sz="9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Exam Room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DDFC13-73D9-470F-8E44-197A7F16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114800"/>
            <a:ext cx="10096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036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1B3B9-CC98-49CC-9D00-78292CDE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343400"/>
            <a:ext cx="819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Live Integrity</a:t>
            </a:r>
          </a:p>
          <a:p xmlns:a="http://schemas.openxmlformats.org/drawingml/2006/main">
            <a:pPr algn="ctr">
              <a:defRPr sz="9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Agents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0DC7B5-8BE9-4F66-86CF-2E86AFC63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57500"/>
            <a:ext cx="10096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036"/>
          </a:solidFill>
          <a:ln xmlns:a="http://schemas.openxmlformats.org/drawingml/2006/main" w="9525">
            <a:solidFill>
              <a:srgbClr val="F7C94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84A9EE-47E2-48D4-9252-A61A54ADE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86100"/>
            <a:ext cx="819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Public Result</a:t>
            </a:r>
          </a:p>
          <a:p xmlns:a="http://schemas.openxmlformats.org/drawingml/2006/main">
            <a:pPr algn="ctr">
              <a:defRPr sz="9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Verifier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D390C6-E6AE-47D6-9A45-AE764A8A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25755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2D39B-9515-49A0-915B-260B9563C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190875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AF6ED7-964C-4064-8C24-E56E1ECC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5755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8E3226-CDB5-4A66-8377-EB02CE7A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90875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A5A533-51DC-49D0-B474-3E0936ED6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419350"/>
            <a:ext cx="476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85B0F1-68B6-481E-BDC5-479FDF8C0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90800"/>
            <a:ext cx="53911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43A"/>
          </a:solidFill>
          <a:ln xmlns:a="http://schemas.openxmlformats.org/drawingml/2006/main" w="9525">
            <a:solidFill>
              <a:srgbClr val="29425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231D1E-52D2-4608-ADC0-A46599C8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476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Built to answer the hackathon brief as a complete lifecycle, not just an exam screen.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D73C58-57A8-4FF2-87F0-E422D8B1D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4591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The MVP demonstrates pre-exam commitment, live monitoring, certification, and independent public verification.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DF3B75-7C24-4DE9-9AD6-1F2AACF20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440426-FAD4-4D0C-94EE-41120E03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53050"/>
            <a:ext cx="200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autonomous agents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C5A891-8D41-41E8-8863-9F3E2D8D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91100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1-click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8422B1-F4D4-4B5D-B9CC-D6C90676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353050"/>
            <a:ext cx="200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public verification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8C62D6-F11E-47D2-A10E-687BFB09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991100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C948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C948"/>
                </a:solidFill>
                <a:latin typeface="Aptos"/>
                <a:ea typeface="Aptos"/>
                <a:cs typeface="Aptos"/>
              </a:rPr>
              <a:t>Live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F06F78-3043-4A89-A0F9-2FC20142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353050"/>
            <a:ext cx="200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Vercel demo route</a:t>
            </a:r>
          </a:p>
        </p:txBody>
      </p:sp>
    </p:spTree>
    <p:extLst>
      <p:ext uri="{BB962C8B-B14F-4D97-AF65-F5344CB8AC3E}">
        <p14:creationId xmlns:p14="http://schemas.microsoft.com/office/powerpoint/2010/main" val="149103243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D02A1C-A7FC-4CB8-897A-D2A339A1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0D49CF-3DFE-4E75-AA17-2A6A4663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D74C94-5971-4792-B52B-A62955D24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A4D0BB-93B9-424F-91F4-38E4B08B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191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High-stakes exams lose trust when security is checked after damage is done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C6F014-320F-4D6F-9EC4-317633F3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ExamChain moves trust controls into the exam lifecycle itself.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941DE4-208F-440E-BCBC-C3C11FA18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17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0708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0708A"/>
                </a:solidFill>
                <a:latin typeface="Aptos"/>
                <a:ea typeface="Aptos"/>
                <a:cs typeface="Aptos"/>
              </a:rPr>
              <a:t>ExamChain | FAR AWAY Round 1 MVP Submission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0546FA-A8AF-4177-B5DB-E7E65637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10001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036"/>
          </a:solidFill>
          <a:ln xmlns:a="http://schemas.openxmlformats.org/drawingml/2006/main" w="9525">
            <a:solidFill>
              <a:srgbClr val="FF6B6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709FA7-27E8-4ADE-B6EF-5D94DEDC3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527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6B6B"/>
                </a:solidFill>
                <a:latin typeface="Aptos"/>
                <a:ea typeface="Aptos"/>
                <a:cs typeface="Aptos"/>
              </a:rPr>
              <a:t>Before exam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6CB008-682B-4648-AFDC-75CD02EC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552700"/>
            <a:ext cx="6572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Question leakage and unauthorized access can happen before candidates log 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1AEA24-10C5-4AA0-9004-D2767453B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48050"/>
            <a:ext cx="10001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8"/>
          </a:solidFill>
          <a:ln xmlns:a="http://schemas.openxmlformats.org/drawingml/2006/main" w="9525">
            <a:solidFill>
              <a:srgbClr val="F7C94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6F71F7-AF4F-4420-95A1-A36CE6DD6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195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C94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C948"/>
                </a:solidFill>
                <a:latin typeface="Aptos"/>
                <a:ea typeface="Aptos"/>
                <a:cs typeface="Aptos"/>
              </a:rPr>
              <a:t>During exam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D94CFC-FD32-4BA7-8349-C2D580A6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19500"/>
            <a:ext cx="6572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Impersonation, environment risk, and suspicious behavior need live signals.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0E9BE5-18D6-4DFD-BCA7-91B2B753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14850"/>
            <a:ext cx="10001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036"/>
          </a:solidFill>
          <a:ln xmlns:a="http://schemas.openxmlformats.org/drawingml/2006/main" w="9525">
            <a:solidFill>
              <a:srgbClr val="21D4F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8E57B8-6318-4F83-B208-7030DB56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863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After exam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BA82E9-FB06-420A-9014-A0086DA7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686300"/>
            <a:ext cx="6572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Scores and certificates need independent verification, not database trust.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116041-BD64-48CB-B515-A5F0141D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753100"/>
            <a:ext cx="842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24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A6E6E9-032F-4BC4-9288-810005DA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876925"/>
            <a:ext cx="777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Judging thesis: a secure exam platform should prove what happened, when it happened, and whether it can still be trusted.</a:t>
            </a:r>
          </a:p>
        </p:txBody>
      </p:sp>
    </p:spTree>
    <p:extLst>
      <p:ext uri="{BB962C8B-B14F-4D97-AF65-F5344CB8AC3E}">
        <p14:creationId xmlns:p14="http://schemas.microsoft.com/office/powerpoint/2010/main" val="1774296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A4229A-0879-4101-A3F1-D0F00A077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AAE636-9B01-46FB-8F6B-938B57DF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758318-AEA2-4597-A14B-08C70EEB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B7E63A-4E67-40F2-9AB0-46C407BE8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191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ExamChain turns every critical exam action into an auditable proof event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F0A1BB-15D0-47C2-ADB3-E49A5F06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Encrypted question release, agent monitoring, and credential verification are connected by hashes, logs, and transaction metadata.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AF96EA-80E9-4E97-B104-65AF0DE8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17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0708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0708A"/>
                </a:solidFill>
                <a:latin typeface="Aptos"/>
                <a:ea typeface="Aptos"/>
                <a:cs typeface="Aptos"/>
              </a:rPr>
              <a:t>ExamChain | FAR AWAY Round 1 MVP Submission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E0E067-B55F-4AEA-A690-D84EF29C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22098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5B8C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2EF97C-D6EE-496C-B91E-7AD7CC31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527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B8C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5B8CFF"/>
                </a:solidFill>
                <a:latin typeface="Aptos"/>
                <a:ea typeface="Aptos"/>
                <a:cs typeface="Aptos"/>
              </a:rPr>
              <a:t>Commit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223B22-5816-4954-90B5-B24F688D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67100"/>
            <a:ext cx="1676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Question vault fingerprint and Merkle root before delivery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A9BA76-DDE2-4717-BA2B-AB1656DE2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5760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25101F-48F4-400B-8A0D-0D7E83B39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90925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F578F1-7233-4D89-8862-9AF0F44CA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67000"/>
            <a:ext cx="22098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1CAC07-C501-4AAC-99E2-F52E4099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9527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Monitor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74F0FF-A48F-4C83-85D8-E67558E2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467100"/>
            <a:ext cx="1676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Browser/session events scored by integrity agents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2B5F70-42AE-4E5B-88FE-6198EAEDB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65760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68E75D-2064-4F3C-B345-BDAF7FCA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90925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C1A591-BC5B-4DB1-A8C2-FB64644B0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667000"/>
            <a:ext cx="22098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F7C9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A95693-6AC9-4701-8B88-D585D72E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527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C94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7C948"/>
                </a:solidFill>
                <a:latin typeface="Aptos"/>
                <a:ea typeface="Aptos"/>
                <a:cs typeface="Aptos"/>
              </a:rPr>
              <a:t>Certify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7D475C-F947-4042-9BCD-EEDDC80D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67100"/>
            <a:ext cx="1676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DID, VC hash, score, and chain transaction issued after exam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14550F-1BEA-4E4D-815E-E35D4314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5760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4AC4BF-6649-43FC-964F-70708843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590925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3092A9-1CC2-42EE-BB57-C54E91CB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67000"/>
            <a:ext cx="22098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21D4F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9B6F65-0CD1-4660-860F-4625EFF39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9527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3B674C-C7BB-4243-AC98-F9B57A854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67100"/>
            <a:ext cx="1676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Public verifier confirms credential without exposing answers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487F73-23E4-45B5-B3B0-8EA6D6B6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334000"/>
            <a:ext cx="1562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EEED5B-F432-447B-B11B-CE98BB6D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4006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Zero-trust by design</a:t>
            </a:r>
          </a:p>
        </p:txBody>
      </p:sp>
    </p:spTree>
    <p:extLst>
      <p:ext uri="{BB962C8B-B14F-4D97-AF65-F5344CB8AC3E}">
        <p14:creationId xmlns:p14="http://schemas.microsoft.com/office/powerpoint/2010/main" val="73978442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A12A82-1A7C-46FF-B9AB-52AEA6560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1AC3D8-55C5-4D35-B192-97F0436B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59BAD4-7993-4A36-8649-283352EC9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C51F30-0151-42DB-89DA-63C54E6E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191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A layered implementation reviewers can inspect in the repository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796DFE-AC51-4D62-AAF2-87FF1C4FF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React frontend, FastAPI backend, Postgres/Redis state, and Hardhat contracts form the MVP stack.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820ED2-22B0-4B71-BDD0-694E01CD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17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0708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0708A"/>
                </a:solidFill>
                <a:latin typeface="Aptos"/>
                <a:ea typeface="Aptos"/>
                <a:cs typeface="Aptos"/>
              </a:rPr>
              <a:t>ExamChain | FAR AWAY Round 1 MVP Submission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C11A6A-7948-4CC2-8D17-13BBEE4E4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86000"/>
            <a:ext cx="20383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21D4F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1A9254-7548-4CF7-A9BB-B3FA07BF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336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Frontend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C97B11-586C-4EFE-AB53-43D88EB7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480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63D"/>
          </a:solidFill>
          <a:ln xmlns:a="http://schemas.openxmlformats.org/drawingml/2006/main" w="9525">
            <a:solidFill>
              <a:srgbClr val="243B5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5D88DB-ADAC-4B9A-BB16-01AC4285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24200"/>
            <a:ext cx="1466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Landing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DB4823-D1E0-428E-9164-02EB3062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052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63D"/>
          </a:solidFill>
          <a:ln xmlns:a="http://schemas.openxmlformats.org/drawingml/2006/main" w="9525">
            <a:solidFill>
              <a:srgbClr val="243B5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0B490C-628D-4CE2-A166-F27B7C70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81400"/>
            <a:ext cx="1466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Exam Room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64A89C-9262-463A-A827-DDB6A6ED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624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63D"/>
          </a:solidFill>
          <a:ln xmlns:a="http://schemas.openxmlformats.org/drawingml/2006/main" w="9525">
            <a:solidFill>
              <a:srgbClr val="243B5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2A6D81-6575-4185-8471-6FDC194D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38600"/>
            <a:ext cx="1466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Results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95E9BD-D62B-457E-B795-03572B5C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196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63D"/>
          </a:solidFill>
          <a:ln xmlns:a="http://schemas.openxmlformats.org/drawingml/2006/main" w="9525">
            <a:solidFill>
              <a:srgbClr val="243B5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E4B5AC-8ABA-4824-845F-147F8B87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95800"/>
            <a:ext cx="1466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Verifier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CF6654-B5EE-4B87-B969-18734001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7528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A65C65-6EE7-43C9-853A-C1E49156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686175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27325A-FC86-49D5-BE1A-0EE9E612E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86000"/>
            <a:ext cx="20383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12D0FF-D33C-47BC-B026-C069F57D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336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Backend APIs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4AB437-972A-4239-92F9-2FC3225B2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0480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63D"/>
          </a:solidFill>
          <a:ln xmlns:a="http://schemas.openxmlformats.org/drawingml/2006/main" w="9525">
            <a:solidFill>
              <a:srgbClr val="243B5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BBBCEE-4C91-4083-85EC-6F2499DB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24200"/>
            <a:ext cx="1466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Auth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32A7F1-9B0B-4796-98D0-197EC6199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5052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63D"/>
          </a:solidFill>
          <a:ln xmlns:a="http://schemas.openxmlformats.org/drawingml/2006/main" w="9525">
            <a:solidFill>
              <a:srgbClr val="243B5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7A4D74-0F4F-48A4-AEF8-A7EF6D01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81400"/>
            <a:ext cx="1466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Exams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17EE82-D417-48FD-BBB8-E25F86D2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9624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63D"/>
          </a:solidFill>
          <a:ln xmlns:a="http://schemas.openxmlformats.org/drawingml/2006/main" w="9525">
            <a:solidFill>
              <a:srgbClr val="243B5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A967A6-0A2D-438D-9575-BCAEF36A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38600"/>
            <a:ext cx="1466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Agents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8FC3DB-CE04-4788-BA49-9AC5A386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4196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63D"/>
          </a:solidFill>
          <a:ln xmlns:a="http://schemas.openxmlformats.org/drawingml/2006/main" w="9525">
            <a:solidFill>
              <a:srgbClr val="243B5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0FFCE8-F553-483D-BA98-C8F39BC24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95800"/>
            <a:ext cx="1466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Results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1B66BA-0EC0-4DA5-8AA9-06F42A2FA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7528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BF2D1B-DEAC-4981-AF8F-1FC0204B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86175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68FA02-DA15-4FEF-B75C-8F6FF71B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86000"/>
            <a:ext cx="20383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F7C94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F5B7DD-7255-405C-90EC-0BCBA45DA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336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C94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C948"/>
                </a:solidFill>
                <a:latin typeface="Aptos"/>
                <a:ea typeface="Aptos"/>
                <a:cs typeface="Aptos"/>
              </a:rPr>
              <a:t>Data Plane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8F115CE-C909-47F1-87CE-31D4BCBD4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480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63D"/>
          </a:solidFill>
          <a:ln xmlns:a="http://schemas.openxmlformats.org/drawingml/2006/main" w="9525">
            <a:solidFill>
              <a:srgbClr val="243B5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28D63E-797C-4F50-88D4-9BCE67A4B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24200"/>
            <a:ext cx="1466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Postgres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AAFC706-B515-4A14-A322-4B7D391FB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5052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63D"/>
          </a:solidFill>
          <a:ln xmlns:a="http://schemas.openxmlformats.org/drawingml/2006/main" w="9525">
            <a:solidFill>
              <a:srgbClr val="243B5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3899A50-0EED-462E-A398-758BC370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81400"/>
            <a:ext cx="1466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Redis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16E9323-D71B-4594-9281-1481378E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624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63D"/>
          </a:solidFill>
          <a:ln xmlns:a="http://schemas.openxmlformats.org/drawingml/2006/main" w="9525">
            <a:solidFill>
              <a:srgbClr val="243B5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0579F98-C56C-4781-A3EF-C20A90AC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38600"/>
            <a:ext cx="1466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Audit Events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AACC4DE-347E-4BAB-B029-2DB61CD3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4196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63D"/>
          </a:solidFill>
          <a:ln xmlns:a="http://schemas.openxmlformats.org/drawingml/2006/main" w="9525">
            <a:solidFill>
              <a:srgbClr val="243B5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C5B1AC-F084-4D18-A017-8E4ED45E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95800"/>
            <a:ext cx="1466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Vault Metadata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1C2DD3C-CAF8-4B29-8C51-EC6B5D577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52850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97304E2-35EB-4308-96BC-CFE697BA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86175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DC2894B-A10E-46EB-880D-0F8B8E1B8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286000"/>
            <a:ext cx="20383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683619C-6673-4ED7-A210-0B6918E6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336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A78BF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A78BFA"/>
                </a:solidFill>
                <a:latin typeface="Aptos"/>
                <a:ea typeface="Aptos"/>
                <a:cs typeface="Aptos"/>
              </a:rPr>
              <a:t>Proof Layer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C3EBD13-3803-4D2F-BFD7-8D8E938EB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63D"/>
          </a:solidFill>
          <a:ln xmlns:a="http://schemas.openxmlformats.org/drawingml/2006/main" w="9525">
            <a:solidFill>
              <a:srgbClr val="243B59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3742AE-B72A-436F-A00E-AD2CFA3CD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24200"/>
            <a:ext cx="1466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Merkle Root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ECE77F6-D978-4C22-9D72-A36EED48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052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63D"/>
          </a:solidFill>
          <a:ln xmlns:a="http://schemas.openxmlformats.org/drawingml/2006/main" w="9525">
            <a:solidFill>
              <a:srgbClr val="243B59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56F6896-FEC5-44B3-B959-16D37E7A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581400"/>
            <a:ext cx="1466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DID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F980A1C-6220-47EF-A051-556667F52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9624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63D"/>
          </a:solidFill>
          <a:ln xmlns:a="http://schemas.openxmlformats.org/drawingml/2006/main" w="9525">
            <a:solidFill>
              <a:srgbClr val="243B59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99F852D-FD25-41FD-9C89-094597DE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038600"/>
            <a:ext cx="1466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VC Hash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AC2BAE4-C2BD-49D9-90B9-F2B0960D1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4196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63D"/>
          </a:solidFill>
          <a:ln xmlns:a="http://schemas.openxmlformats.org/drawingml/2006/main" w="9525">
            <a:solidFill>
              <a:srgbClr val="243B59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4FF3906-BEEB-448D-B3BD-EAAF2119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95800"/>
            <a:ext cx="1466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Tx Hash</a:t>
            </a:r>
          </a:p>
        </p:txBody>
      </p:sp>
    </p:spTree>
    <p:extLst>
      <p:ext uri="{BB962C8B-B14F-4D97-AF65-F5344CB8AC3E}">
        <p14:creationId xmlns:p14="http://schemas.microsoft.com/office/powerpoint/2010/main" val="15059978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7FAC28-C741-4957-9636-ECB8A54D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F5E762-FAB4-45D3-BD31-EB73062F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715E1-1353-4FFC-ADD5-BA1E91BC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AUTONOMOUS AGENTS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1F3EAE-E9AE-4DA5-AF9E-830446988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191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Four scoped agents make the security story credible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EA1DBC-2914-4F28-9A89-693A8B39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Each agent has a concrete operational job and a visible representation in the demo.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8AF811-5652-42BF-B7D1-3F98112F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17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0708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0708A"/>
                </a:solidFill>
                <a:latin typeface="Aptos"/>
                <a:ea typeface="Aptos"/>
                <a:cs typeface="Aptos"/>
              </a:rPr>
              <a:t>ExamChain | FAR AWAY Round 1 MVP Submission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11BDF5-2456-4D9F-B148-285ED8F0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4686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21D4F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16C4C1-2A2A-4AE7-9FD6-CBD627E8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5270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Integrity Monitor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F39915-43F1-424D-8884-2940B84AD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33700"/>
            <a:ext cx="371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Tracks behavior signals and suspicious session activity.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0A608D-E97A-4905-A3A5-50158F34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686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322902-DD1D-41B6-815A-6CFCB6FCA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43150"/>
            <a:ext cx="4686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5B8C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90B69B-5CD3-4805-BC21-F1CF91F9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B8C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5B8CFF"/>
                </a:solidFill>
                <a:latin typeface="Aptos"/>
                <a:ea typeface="Aptos"/>
                <a:cs typeface="Aptos"/>
              </a:rPr>
              <a:t>Adaptive Selector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C27C6-7744-49A0-AFD8-19BBC987A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33700"/>
            <a:ext cx="371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Controls question delivery from difficulty-tagged pools.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B60201-86F9-400F-9D50-611AA9EC6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86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8C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FD8971-0804-46E9-B86B-D245D5B5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4686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F7C94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DAA0F7-249C-4C09-A263-7BFCEA29E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1480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C9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7C948"/>
                </a:solidFill>
                <a:latin typeface="Aptos"/>
                <a:ea typeface="Aptos"/>
                <a:cs typeface="Aptos"/>
              </a:rPr>
              <a:t>Environment Auditor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5A54A1-9745-4C66-9616-4F4DA18F1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95800"/>
            <a:ext cx="371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Flags camera, browser, focus, and device risk events.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D5CFE1-84E1-4107-B8AD-F29300F0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2481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09DA4D-CF05-42AA-BE55-278851BE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905250"/>
            <a:ext cx="4686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FD40CF-41D9-457E-AA6E-9BB4BD5B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1480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Result Certifier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BBCEF2-995A-4DE1-B7D6-1C071BBD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95800"/>
            <a:ext cx="371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Issues QR-backed verifiable result credentials.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194702-4536-4F8F-8B88-67466CA0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42481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0B8507-05A1-4590-AA38-459C8A6C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676900"/>
            <a:ext cx="701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24"/>
          </a:solidFill>
          <a:ln xmlns:a="http://schemas.openxmlformats.org/drawingml/2006/main" w="9525">
            <a:solidFill>
              <a:srgbClr val="21D4F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D9C7B7-0F34-4BF3-82BA-FCA8C463F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791200"/>
            <a:ext cx="647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This is where the project matches the FAR AWAY blueprint most directly.</a:t>
            </a:r>
          </a:p>
        </p:txBody>
      </p:sp>
    </p:spTree>
    <p:extLst>
      <p:ext uri="{BB962C8B-B14F-4D97-AF65-F5344CB8AC3E}">
        <p14:creationId xmlns:p14="http://schemas.microsoft.com/office/powerpoint/2010/main" val="213947368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47DE15-AA4F-4AB9-8DC7-FE37C057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1153D3-2544-49CF-81AB-6BF1F8228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27C3E9-4C0B-4717-8815-044C5B5E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DEMO WALKTHROUGH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76682C-1016-4E6D-B9F3-ADD8ADE9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191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One-take reviewer path: exam attempt to verified credential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93B2C5-D184-4148-9E72-A916F41B4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This is the route to show in the submission video or during judging.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863966-975A-4AF5-A180-B23B7FFB4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17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0708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0708A"/>
                </a:solidFill>
                <a:latin typeface="Aptos"/>
                <a:ea typeface="Aptos"/>
                <a:cs typeface="Aptos"/>
              </a:rPr>
              <a:t>ExamChain | FAR AWAY Round 1 MVP Submission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B9B99F-C39D-467E-ACAC-492AC8B3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76500"/>
            <a:ext cx="17526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29425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639E77-80F1-4363-AC56-1108C14D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3AFFF3-ED72-48A3-A3B2-9D667A5C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137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Open demo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DBF90-DD18-492A-B711-56346C851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1371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Launch /exam/demo-neet-2026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DADCB5-E3C5-47E0-AE8A-A5B47D0C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467100"/>
            <a:ext cx="361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3AE9F2-8E08-416A-B344-9C135810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400425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C16DDB-1793-4E93-83F7-05FFF870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76500"/>
            <a:ext cx="17526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942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DFF0D7-6AFB-441A-8DB6-59E1B1682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724150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537CB9-16A6-45E6-B711-5EE287A4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314700"/>
            <a:ext cx="137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Attempt exam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7A7058-46D5-46D8-B1CB-24B2EEE10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733800"/>
            <a:ext cx="1371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Answer questions while agents update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1B5A10-5429-4E09-AD17-6D057BF4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467100"/>
            <a:ext cx="361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01973B-2706-4D52-8A7B-1BBF078B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00425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47D98D-5B63-4514-A225-31F35CAC8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76500"/>
            <a:ext cx="17526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29425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ECC879-EBAE-4C6E-9B25-6444979C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724150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878DAE-75FF-4646-BFFC-51F7A859A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314700"/>
            <a:ext cx="137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Inject risk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62BC7C-B051-46A2-8CEC-BE3252B5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33800"/>
            <a:ext cx="1371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Trigger environment anomaly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4DF565-36B3-4923-A71B-C84B9BCD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467100"/>
            <a:ext cx="361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296698-D933-4B44-90FA-69E3ECE2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400425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564DF6-DB0B-4697-B759-1F5C3FB1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76500"/>
            <a:ext cx="17526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29425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0633B7-263F-43EA-819B-EB3EFBD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724150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D7A0B8-969C-44AC-A192-3A746668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314700"/>
            <a:ext cx="137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Certify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4FA2B1-7E8D-4CDB-9608-8C76F6890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733800"/>
            <a:ext cx="1371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Create DID, hash, QR, tx proof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B030B1-6E98-46D0-B213-1F0189CB3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67100"/>
            <a:ext cx="361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27F32C-054A-491E-9D21-80C5F76D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00425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06DDC6-A64C-41EB-9311-98659F7F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476500"/>
            <a:ext cx="17526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FC22A6-DF70-4D65-80BE-29568763A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724150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A3CB4C-1FD4-4854-B9A9-A7BF499DD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314700"/>
            <a:ext cx="137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D861A1-382F-4112-A468-D2EA8C82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733800"/>
            <a:ext cx="1371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Open public verifier link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5E7652-3E10-4051-B6EF-4634224D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29250"/>
            <a:ext cx="8953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24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23E70F6-6F64-459F-A660-6BED2ABE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562600"/>
            <a:ext cx="8420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Live URL: https://exam-chain-pi.vercel.app/exam/demo-neet-2026</a:t>
            </a:r>
          </a:p>
        </p:txBody>
      </p:sp>
    </p:spTree>
    <p:extLst>
      <p:ext uri="{BB962C8B-B14F-4D97-AF65-F5344CB8AC3E}">
        <p14:creationId xmlns:p14="http://schemas.microsoft.com/office/powerpoint/2010/main" val="3413408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12866F-F2AB-49F7-A478-6953CCE9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751D3B-4628-430F-973F-0975BA28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00B0B6-4FDF-4535-9C3B-FA71E671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IMPLEMENTATION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08E524-48FF-46E7-A82E-F735592F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191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The submitted repository is structured like a real product, not a static prototype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BDD357-A49F-4465-BAF1-8684F656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The current MVP includes frontend, backend, contracts, deployment config, docs, and a submission package.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AE601E-7A72-4C49-B569-A50BDF86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17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0708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0708A"/>
                </a:solidFill>
                <a:latin typeface="Aptos"/>
                <a:ea typeface="Aptos"/>
                <a:cs typeface="Aptos"/>
              </a:rPr>
              <a:t>ExamChain | FAR AWAY Round 1 MVP Submission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D24E76-EFAB-4447-A864-9A5EBA95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81250"/>
            <a:ext cx="27241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21D4F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AE7AEF-DA4A-40DE-9C0F-2016BDED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4795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Frontend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B327EB-4AB0-41BD-A268-7CA72D3F1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09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E7F87E-D3BF-4CB3-88A5-292630E9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4325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React + Vite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A43D83-DCEA-4D0F-8A42-C81F861B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09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6CE292-BF44-409C-9714-FAB75AD56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54330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Demo exam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2B6BED-CDF5-4C3C-9323-A5EC8894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100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1B5721-887C-4B6A-847A-FF122AD4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Credential QR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A88C51-4F49-40BB-9BCC-F98426B91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0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DFDB1D-4AC3-46D9-8ABD-577F4D3B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34340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Public verifier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625D68-686E-411E-BC3D-4B25FF8A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81250"/>
            <a:ext cx="27241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783A8F-F350-4F94-8D5C-0F63A822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4795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Backend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1D7D44-E843-4106-8065-6A2A9FB1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09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198992-6568-405A-9EF1-96732030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4325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FastAPI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F5DF5C-C56B-4B0D-9434-854038CC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09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015470-5BC7-4CEA-AA40-5BE21C2F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4330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Postgres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64534C-025E-4769-A7C3-870312BD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100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75DCFA-2CB5-4815-839D-2EFD57E0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94335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Redis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D972D5-6EC6-4EDF-84C1-6FF0E34F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10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FA7336-7048-4278-858B-6CA12ADF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34340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Agent routers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A60CF0-8170-4C63-8566-C24645BF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81250"/>
            <a:ext cx="27241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6A0FC2-1474-4224-87CD-9853E951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4795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78BF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A78BFA"/>
                </a:solidFill>
                <a:latin typeface="Aptos"/>
                <a:ea typeface="Aptos"/>
                <a:cs typeface="Aptos"/>
              </a:rPr>
              <a:t>Contracts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9FA7F6-8762-4789-81EB-68744553B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09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B79343-731B-45B7-A320-338CE34FF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QuestionVault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F8495C-74D9-4D8C-8CE6-C42A1D3F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09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E8B666-AC44-44BC-9D16-AC0D67F24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4330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ResultCertifier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7E4DFAC-0EE2-4A50-8319-08517E84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100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5DDA26-8BDA-40EF-9755-708674671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94335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Hardhat compile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41E3BB0-241D-4904-9EEA-CF2C725D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10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AA16EB-108E-4398-BC86-2316AD6E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34340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ABI bridge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558DC8-B696-4B66-B24F-0C43289E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524500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PASS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8212AAE-B8F8-4E86-8D0B-FA7B5A99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886450"/>
            <a:ext cx="200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frontend build + lint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EAE956B-86CB-4F35-8299-6ED614B0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524500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PASS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22F6568-0A32-45A0-8BCE-11D3BFFF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886450"/>
            <a:ext cx="200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backend compile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D310378-0EE4-4809-B6DE-A971F5BD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524500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PASS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3A2A6E0-4F57-448D-9B14-064A3C53E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886450"/>
            <a:ext cx="200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contract compile</a:t>
            </a:r>
          </a:p>
        </p:txBody>
      </p:sp>
    </p:spTree>
    <p:extLst>
      <p:ext uri="{BB962C8B-B14F-4D97-AF65-F5344CB8AC3E}">
        <p14:creationId xmlns:p14="http://schemas.microsoft.com/office/powerpoint/2010/main" val="107862309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0BCAC1-0E76-49F8-9319-A3D9B634A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481A3-EC4C-41AA-BF3D-D774600F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A884A7-8170-4C90-8681-DF1582C0F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DEPLOYMENT PLAN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6B3C03-13F1-4914-97F3-F3E58DC0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191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Frontend is live; backend can be connected without changing the submission link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43DA2F-D83F-4EAD-A6E3-C4BC53FB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The demo is intentionally resilient: judges can use the Vercel route while backend services come online.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C25C53-0E1C-4AF6-AF75-D8B48C6C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17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0708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0708A"/>
                </a:solidFill>
                <a:latin typeface="Aptos"/>
                <a:ea typeface="Aptos"/>
                <a:cs typeface="Aptos"/>
              </a:rPr>
              <a:t>ExamChain | FAR AWAY Round 1 MVP Submission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19B8DD-AD5B-46C0-95EF-EF4EE0AD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648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EDA47A-41A0-4C05-BDE6-8E02B3BD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05100"/>
            <a:ext cx="342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Already deployed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1A192F-1CC5-499E-9B9B-9142C7F67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43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31626E-B9BB-4CFE-BED4-1921B4371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7660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Vercel production frontend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196795-095D-4304-9C0A-C55E26EE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814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FC986B-3C35-421C-9153-2B326B4AE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71475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Direct exam demo route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DD82F9-5C1E-45F9-8DDF-0A88ABAAF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19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58061D-3D42-4709-91AB-AA4BC40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15290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SPA refresh support via Vercel rewrite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5CE918-713B-4D6F-8866-FDE525DC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81250"/>
            <a:ext cx="4648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F7C94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15455E-B1BD-422C-9C2F-0D575137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705100"/>
            <a:ext cx="342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C94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7C948"/>
                </a:solidFill>
                <a:latin typeface="Aptos"/>
                <a:ea typeface="Aptos"/>
                <a:cs typeface="Aptos"/>
              </a:rPr>
              <a:t>Backend path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B399A7-FBD2-4B3E-8D1C-964E0AA7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343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8CAD37-F235-46A6-AF5B-4433369F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7660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Render Web Service for FastAPI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F2C376-2E85-401B-B26E-6C9AC718A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814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2BF80D-7474-4EA2-A173-73CF8C77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1475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Render Postgres + Key Value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6EB12C-0735-43F8-8EC9-B8BB73CC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19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22F32F-D93A-4440-A994-66D89345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15290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VITE_API_URL points Vercel to backend</a:t>
            </a:r>
          </a:p>
        </p:txBody>
      </p:sp>
    </p:spTree>
    <p:extLst>
      <p:ext uri="{BB962C8B-B14F-4D97-AF65-F5344CB8AC3E}">
        <p14:creationId xmlns:p14="http://schemas.microsoft.com/office/powerpoint/2010/main" val="14487771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0BBC3C-0BD9-4F58-979B-D410F2E8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5E6B7A-59F2-4599-8E80-4B46DF52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E4F731-6CCE-425B-A348-1032E2CE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SECURITY DECISIONS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BA88D2-285A-43A4-A646-011C0EB4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191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The MVP avoids hand-wavy security by exposing proof objects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A2ED3C-1DFB-44AC-85AB-F8048E77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Every major claim has a visible artifact reviewers can inspect.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855DCE-C2BF-4825-9331-240CC228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17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0708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0708A"/>
                </a:solidFill>
                <a:latin typeface="Aptos"/>
                <a:ea typeface="Aptos"/>
                <a:cs typeface="Aptos"/>
              </a:rPr>
              <a:t>ExamChain | FAR AWAY Round 1 MVP Submission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A0906E-ABC5-4C12-A22B-3E9B6847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10134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036"/>
          </a:solidFill>
          <a:ln xmlns:a="http://schemas.openxmlformats.org/drawingml/2006/main" w="9525">
            <a:solidFill>
              <a:srgbClr val="29425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C12419-B5AB-4794-8268-179072D9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098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Question integrity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273C4B-BD91-4676-85A6-88EA3746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4098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Committed roots and vault metadata represent the released exam state.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67C12D-89D6-4478-89FC-9214B81F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05150"/>
            <a:ext cx="10134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8"/>
          </a:solidFill>
          <a:ln xmlns:a="http://schemas.openxmlformats.org/drawingml/2006/main" w="9525">
            <a:solidFill>
              <a:srgbClr val="29425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5F9473-B9ED-47E1-AD01-159D132A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2480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Session integrity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903C1F-B338-4A73-85DB-EE345791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2480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Agent timeline shows live anomaly events and risk interpretation.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D7EA9D-48D0-404D-B08E-6B99766B6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43350"/>
            <a:ext cx="10134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036"/>
          </a:solidFill>
          <a:ln xmlns:a="http://schemas.openxmlformats.org/drawingml/2006/main" w="9525">
            <a:solidFill>
              <a:srgbClr val="2942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5B92BA-561E-4FDC-B991-AD6D88CE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862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Result integrity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64FD97-5061-42F2-A521-8B34F1A5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0862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Credential hash, DID, QR code, and transaction reference package the score.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3297A0-52C7-4669-868C-04D5004E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81550"/>
            <a:ext cx="10134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8"/>
          </a:solidFill>
          <a:ln xmlns:a="http://schemas.openxmlformats.org/drawingml/2006/main" w="9525">
            <a:solidFill>
              <a:srgbClr val="29425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11A003-06AA-46D2-B790-AC93FC9C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244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Public auditability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D22C3B-5834-4A0A-A3AB-837DD572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9244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Verifier page checks the credential without needing private answers.</a:t>
            </a:r>
          </a:p>
        </p:txBody>
      </p:sp>
    </p:spTree>
    <p:extLst>
      <p:ext uri="{BB962C8B-B14F-4D97-AF65-F5344CB8AC3E}">
        <p14:creationId xmlns:p14="http://schemas.microsoft.com/office/powerpoint/2010/main" val="89050853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DF107E-FAF4-4BD1-94CD-DE13F127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B9BC17-B577-477D-A32D-647B0EF5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F0BCD4-DF8C-4D75-9E1C-52129F26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WHY IT CAN WIN ROUND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2E8D50-6076-4813-AFBB-B5E0DCFE8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191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ExamChain gives judges a complete, memorable security story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F0EFB9-95BC-4EEB-AE03-D0D5FAF39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The submission connects hackathon ambition with a working route they can open immediately.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91C310-3A5A-4D38-92CE-BFB7ACDC4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17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0708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0708A"/>
                </a:solidFill>
                <a:latin typeface="Aptos"/>
                <a:ea typeface="Aptos"/>
                <a:cs typeface="Aptos"/>
              </a:rPr>
              <a:t>ExamChain | FAR AWAY Round 1 MVP Submission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784ED7-38B6-48D8-AB21-BDB25F6C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81250"/>
            <a:ext cx="47434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F68804-A3B4-4339-8478-D99D5729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908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Complete lifecycle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9369F-321F-49FE-B497-EF2452AF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33700"/>
            <a:ext cx="3886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Pre-exam, during-exam, and post-exam trust are all covered.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AF0E6A-6B85-4F84-A55F-762D5B65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81250"/>
            <a:ext cx="47434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21D4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6A702E-A913-46EE-9A78-FBA439ECE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908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Agentic relevance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B3BA0B-0084-4A67-86C4-3BBC2342E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33700"/>
            <a:ext cx="3886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The AI/security agents have named responsibilities and demo-visible outputs.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A94F74-DC05-467F-9046-CAEDCDDD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90950"/>
            <a:ext cx="47434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45BEB2-07BA-4033-A305-D5A98D04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005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A78BF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A78BFA"/>
                </a:solidFill>
                <a:latin typeface="Aptos"/>
                <a:ea typeface="Aptos"/>
                <a:cs typeface="Aptos"/>
              </a:rPr>
              <a:t>Blockchain fit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FD6F21-4A81-431E-8F43-CFD3BCC4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43400"/>
            <a:ext cx="3886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Chain is used for verification and auditability, not as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2B1047-A287-48B1-A06D-1F0CAB46C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90950"/>
            <a:ext cx="47434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F7C94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F716E2-6B00-4865-94DD-1B11FB656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005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C94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C948"/>
                </a:solidFill>
                <a:latin typeface="Aptos"/>
                <a:ea typeface="Aptos"/>
                <a:cs typeface="Aptos"/>
              </a:rPr>
              <a:t>Reviewer-friendly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050969-B468-4807-8196-8ECCBF08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43400"/>
            <a:ext cx="3886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The Vercel link lands directly on the product experience.</a:t>
            </a:r>
          </a:p>
        </p:txBody>
      </p:sp>
    </p:spTree>
    <p:extLst>
      <p:ext uri="{BB962C8B-B14F-4D97-AF65-F5344CB8AC3E}">
        <p14:creationId xmlns:p14="http://schemas.microsoft.com/office/powerpoint/2010/main" val="136869679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50BEA1-F0C2-4D3E-A269-82A3B86C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11314B-78DF-44AC-AC70-71B35D06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D4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6BA5A3-73F3-48C8-8006-2CECBF50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SUBMISSION CHECKLIST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2C6CED-97E3-4085-B30D-C8561A48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8191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Upload this deck, paste the public repo, and use the direct live demo link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82EF4D-4EFB-4481-9564-C42A36E5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FB0C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FB0C7"/>
                </a:solidFill>
                <a:latin typeface="Aptos"/>
                <a:ea typeface="Aptos"/>
                <a:cs typeface="Aptos"/>
              </a:rPr>
              <a:t>Keep the final form simple and error-free.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1B0CA5-B272-4688-A206-F90503D2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17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0708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0708A"/>
                </a:solidFill>
                <a:latin typeface="Aptos"/>
                <a:ea typeface="Aptos"/>
                <a:cs typeface="Aptos"/>
              </a:rPr>
              <a:t>ExamChain | FAR AWAY Round 1 MVP Submission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97B721-74B7-49EF-9F78-37120A954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05050"/>
            <a:ext cx="9677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29425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D51284-BFA3-48D3-91F7-0880E853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9555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GitHub Repository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3B8426-40AE-4C21-9CB3-6C751DA75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955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Paste your public ExamChain GitHub repository URL.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C44DB6-B9FA-4C6C-BA4B-0AAFC022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9677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29425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FD666C-5789-4869-AB9D-248ED74A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6195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PPT / Video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F97AA0-E68A-4F28-AC74-69726E7FA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61950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Upload submission/ExamChain_FAR_AWAY_Submission.pptx.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3C86A4-2E98-4369-A9F3-9A81059D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52950"/>
            <a:ext cx="9677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A2B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BFFAD1-5A99-4EE2-8A97-10F9DFB9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4345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1D4F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1D4F4"/>
                </a:solidFill>
                <a:latin typeface="Aptos"/>
                <a:ea typeface="Aptos"/>
                <a:cs typeface="Aptos"/>
              </a:rPr>
              <a:t>Live URL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18BF88-B273-4CC1-9832-3F9A9C63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7434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https://exam-chain-pi.vercel.app/exam/demo-neet-2026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B63D89-7BB9-45A6-929E-D0825D5B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905500"/>
            <a:ext cx="8077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24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9EB034-E1E5-4BEB-B791-A94480857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019800"/>
            <a:ext cx="742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34D399"/>
                </a:solidFill>
                <a:latin typeface="Aptos"/>
                <a:ea typeface="Aptos"/>
                <a:cs typeface="Aptos"/>
              </a:rPr>
              <a:t>Final pitch: ExamChain makes exam trust verifiable before, during, and after the test.</a:t>
            </a:r>
          </a:p>
        </p:txBody>
      </p:sp>
    </p:spTree>
    <p:extLst>
      <p:ext uri="{BB962C8B-B14F-4D97-AF65-F5344CB8AC3E}">
        <p14:creationId xmlns:p14="http://schemas.microsoft.com/office/powerpoint/2010/main" val="13425659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2026-06-14T18:12:06.3530000Z</dcterms:created>
  <dcterms:modified xsi:type="dcterms:W3CDTF">2026-06-14T18:12:06.3530000Z</dcterms:modified>
</coreProperties>
</file>